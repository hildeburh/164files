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57" r:id="rId4"/>
    <p:sldId id="260" r:id="rId5"/>
    <p:sldId id="258" r:id="rId6"/>
    <p:sldId id="262" r:id="rId7"/>
    <p:sldId id="271" r:id="rId8"/>
    <p:sldId id="272" r:id="rId9"/>
    <p:sldId id="259" r:id="rId10"/>
    <p:sldId id="263" r:id="rId11"/>
    <p:sldId id="264" r:id="rId12"/>
    <p:sldId id="265" r:id="rId13"/>
    <p:sldId id="267" r:id="rId14"/>
    <p:sldId id="266" r:id="rId15"/>
    <p:sldId id="268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512"/>
    <a:srgbClr val="E8E8E8"/>
    <a:srgbClr val="F7E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9"/>
  </p:normalViewPr>
  <p:slideViewPr>
    <p:cSldViewPr snapToGrid="0">
      <p:cViewPr>
        <p:scale>
          <a:sx n="87" d="100"/>
          <a:sy n="87" d="100"/>
        </p:scale>
        <p:origin x="2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3329D-95E4-0A4E-B78C-5A1265A82721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A8C45-A5E5-D249-B0F0-885C58A5F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6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EA8C45-A5E5-D249-B0F0-885C58A5FF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76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4E2A-3E9C-8711-29F9-82BE1BEE3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1C975-1616-4873-2705-D4CFEA3FC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0CDD2-3955-0144-A101-E9EE47C9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1C330-4417-06BA-8EB9-8D6CF6F7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6F373-2113-42EC-5AAB-66483D0B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82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1213-F619-65FD-CCFB-33FBF312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D8213-C2BA-8819-18B2-B263B2DC5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B417-4C04-3BC2-1850-BD373D98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D89E-52AA-3A9C-1753-B34D015D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BA7-AC6C-85BF-0CEE-E2562A9D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1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F15B-E49E-9858-20AD-94420AA5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E5F88-0D0C-E9A6-82C7-1158AC51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0CE3C-7FDF-DEA8-3028-5FFE4F81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1570-EE08-8F9A-6120-BB88C475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3C55E-DB99-CDCD-50B2-542EE931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0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58F3-BA0A-9DFD-44A4-20D86C51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3A4F5-0FF3-14C7-8BFE-CC14DD40F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2BF8F-6E4F-B853-E402-C4E413842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CA330-E648-1558-5111-BBF578DF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83499-DE4E-D0D0-1C7A-EC80D3F2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31732-1F02-2DF3-92B6-85722297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1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79B0-CBF8-86A1-D5AE-28E7C7F0F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7F5A8-4311-DE11-5B9D-7E69D89B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F95C6-E926-0E4D-109B-91A6B48E0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B4E66-E1D8-0959-1114-90A6E5D85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0AFEE-B27A-70C8-A2B5-A012D2DBF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4927A-294E-3FE6-EABD-F1511058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00548-89DC-623A-7254-20B1047F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DE696-B9D9-6C94-533A-7E51025F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97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64E7-FC8C-21CD-19F6-F7F9555D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CA4E2-EE08-D189-DE49-10867620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56C4E-A059-A7CD-D338-334B0290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2F920-D8C7-4533-DD19-035B1D50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3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65878-B849-C0C4-6DED-E32FF707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9CCC0-3A20-C305-E0CE-8244E6EF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1F7A9-BDB1-5DE0-E00A-0774FBAD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6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A485-A5E9-9A7E-D3DD-EEC783F9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7045E-41A4-F0FD-8EA6-4D2D25083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B03F5-326B-0B21-6284-1120F074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C0770-7E7D-B4E4-33D8-837FC1D7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7459A-7E94-BDCC-2605-0F1DF480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16F7E-D842-635D-2C6D-7AE76C34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0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5AF9-C039-D71C-0AF2-BBCA7EDB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83D70-79AD-F1DB-D501-A6991B2C3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B96CD-918C-1DFB-F852-1EEE89E4C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DB00E-CF04-485A-BA00-A7EF992B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EBDC9-77B1-86F6-6C7F-5C19345F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E22FF-A9F2-B431-3BAD-C0FC3873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3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6949-F7DC-70E4-CB22-43838A49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CD77A-5FD5-284F-69FD-9E3358C67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8BA1-6E36-EC8E-4693-AA5802D9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D7BFA-9317-2B1D-CB0E-374B6E60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9A06-8142-A7CF-7E23-5AFF5A88E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8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B7556-08D8-7C8E-FE26-ABF92D568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3CC51-812C-ED9A-E34B-4DA367670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39CE-534E-2387-1C29-89079C74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3AE7B-C92A-9B30-A731-79B1EB07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AA0F6-A8AB-CA00-6771-57532C21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7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C66D1-A95E-1AA1-94B0-86576AFC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22D5-76AB-B27E-C28B-EC294B340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A0144-6486-F04F-0C30-D56CD9A9B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951B2-CD96-5540-A0E4-103CA6060B6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2645-FA2B-15D5-83B5-03D7C5AF4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10A2E-B13B-21BB-8382-F7039DC7D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83484-DDD5-734F-8EDE-AAFC43915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6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vma.org/resources-tools/reports-statistics/us-pet-ownership-statistics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helteranimalscount.org/explore-the-data/statistics-2024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random-forest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371/journal.pone.0300633" TargetMode="External"/><Relationship Id="rId3" Type="http://schemas.openxmlformats.org/officeDocument/2006/relationships/hyperlink" Target="https://doi.org/10.1080/10888705.2012.709084" TargetMode="External"/><Relationship Id="rId7" Type="http://schemas.openxmlformats.org/officeDocument/2006/relationships/hyperlink" Target="https://www.facebook.com/shelteranimalscount/posts/-february-is-adopt-a-rescued-rabbit-month-as-we-wrap-up-the-month-to-celebrate-h/645736767845114/" TargetMode="External"/><Relationship Id="rId2" Type="http://schemas.openxmlformats.org/officeDocument/2006/relationships/hyperlink" Target="https://www.shelteranimalscount.org/explore-the-data/statistics-2024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bm.com/think/topics/random-forest" TargetMode="External"/><Relationship Id="rId5" Type="http://schemas.openxmlformats.org/officeDocument/2006/relationships/hyperlink" Target="https://doi.org/10.1163/15685306-bja10100" TargetMode="External"/><Relationship Id="rId10" Type="http://schemas.openxmlformats.org/officeDocument/2006/relationships/hyperlink" Target="https://www.avma.org/resources-tools/reports-statistics/us-pet-ownership-statistics" TargetMode="External"/><Relationship Id="rId4" Type="http://schemas.openxmlformats.org/officeDocument/2006/relationships/hyperlink" Target="https://doi.org/10.1057/978-1-137-59572-0_7" TargetMode="External"/><Relationship Id="rId9" Type="http://schemas.openxmlformats.org/officeDocument/2006/relationships/hyperlink" Target="https://rabbit.org/resources/how-many-pet-rabbits-are-there-in-the-us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mall brown rabbit">
            <a:extLst>
              <a:ext uri="{FF2B5EF4-FFF2-40B4-BE49-F238E27FC236}">
                <a16:creationId xmlns:a16="http://schemas.microsoft.com/office/drawing/2014/main" id="{F7A29CC2-BAB1-23CA-89AF-CC51D68DC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7" r="737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BB825-BBEA-5FBF-B17C-A838B10F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</a:rPr>
              <a:t>How Long in the Shelter? Predictors of Rabbit Time to Adoption 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974C1-3A08-7D09-2D4F-1AD91624D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Raleway" pitchFamily="2" charset="77"/>
              </a:rPr>
              <a:t>Rachel S. Anderson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Raleway" pitchFamily="2" charset="77"/>
              </a:rPr>
              <a:t>CIS 164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Raleway" pitchFamily="2" charset="77"/>
              </a:rPr>
              <a:t>December 10,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2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48731-68C7-7E81-0406-F04DDE36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Questions </a:t>
            </a:r>
            <a:br>
              <a:rPr lang="en-US" dirty="0">
                <a:solidFill>
                  <a:schemeClr val="bg1"/>
                </a:solidFill>
                <a:latin typeface="Raleway" pitchFamily="2" charset="77"/>
              </a:rPr>
            </a:br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&amp; Objectives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4662546-E066-13B6-DEC9-B299235C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2288833"/>
            <a:ext cx="6976573" cy="412829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How long do rabbits stay in a shelter before they’re adopted?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How valid is anecdotal evidence?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Compare two models: Multilinear Regression and  Random Forest Regression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Evaluate the results </a:t>
            </a:r>
          </a:p>
        </p:txBody>
      </p:sp>
      <p:pic>
        <p:nvPicPr>
          <p:cNvPr id="5" name="Content Placeholder 4" descr="A white rabbit with red eyes&#10;&#10;AI-generated content may be incorrect.">
            <a:extLst>
              <a:ext uri="{FF2B5EF4-FFF2-40B4-BE49-F238E27FC236}">
                <a16:creationId xmlns:a16="http://schemas.microsoft.com/office/drawing/2014/main" id="{56C0E6B2-64C1-D1AA-0F55-509E97655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27" y="11568"/>
            <a:ext cx="4562263" cy="68348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AA9D1C-F827-390C-7E60-50DA269D6E49}"/>
              </a:ext>
            </a:extLst>
          </p:cNvPr>
          <p:cNvSpPr txBox="1"/>
          <p:nvPr/>
        </p:nvSpPr>
        <p:spPr>
          <a:xfrm>
            <a:off x="653142" y="6417128"/>
            <a:ext cx="5142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Raleway" pitchFamily="2" charset="77"/>
              </a:rPr>
              <a:t>Images, except where noted, are Adobe Stock</a:t>
            </a:r>
          </a:p>
        </p:txBody>
      </p:sp>
    </p:spTree>
    <p:extLst>
      <p:ext uri="{BB962C8B-B14F-4D97-AF65-F5344CB8AC3E}">
        <p14:creationId xmlns:p14="http://schemas.microsoft.com/office/powerpoint/2010/main" val="157482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black rabbit on a white surface&#10;&#10;AI-generated content may be incorrect.">
            <a:extLst>
              <a:ext uri="{FF2B5EF4-FFF2-40B4-BE49-F238E27FC236}">
                <a16:creationId xmlns:a16="http://schemas.microsoft.com/office/drawing/2014/main" id="{77963DD1-DE7C-7ABC-39AD-8B322D696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64" b="1433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EFC9-CA06-F29A-A1E8-5FADFA90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910431"/>
            <a:ext cx="4724400" cy="14664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itchFamily="2" charset="77"/>
              </a:rPr>
              <a:t>Introducing: Marley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78DAA-C870-F02E-D1B4-A72E2BD0C250}"/>
              </a:ext>
            </a:extLst>
          </p:cNvPr>
          <p:cNvSpPr txBox="1"/>
          <p:nvPr/>
        </p:nvSpPr>
        <p:spPr>
          <a:xfrm>
            <a:off x="914401" y="3004456"/>
            <a:ext cx="6096000" cy="3614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Raleway" pitchFamily="2" charset="77"/>
              </a:rPr>
              <a:t>Name: </a:t>
            </a:r>
            <a:r>
              <a:rPr lang="en-US" sz="2800" dirty="0">
                <a:solidFill>
                  <a:schemeClr val="bg1"/>
                </a:solidFill>
                <a:latin typeface="Raleway" pitchFamily="2" charset="77"/>
              </a:rPr>
              <a:t>Marley</a:t>
            </a:r>
            <a:endParaRPr lang="en-US" sz="2800" b="1" dirty="0">
              <a:solidFill>
                <a:schemeClr val="bg1"/>
              </a:solidFill>
              <a:latin typeface="Raleway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Raleway" pitchFamily="2" charset="77"/>
              </a:rPr>
              <a:t>Date of Birth: </a:t>
            </a:r>
            <a:r>
              <a:rPr lang="en-US" sz="2800" dirty="0">
                <a:solidFill>
                  <a:schemeClr val="bg1"/>
                </a:solidFill>
                <a:latin typeface="Raleway" pitchFamily="2" charset="77"/>
              </a:rPr>
              <a:t>2004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Raleway" pitchFamily="2" charset="77"/>
              </a:rPr>
              <a:t>Age at Adoption: </a:t>
            </a:r>
            <a:r>
              <a:rPr lang="en-US" sz="2800" dirty="0">
                <a:solidFill>
                  <a:schemeClr val="bg1"/>
                </a:solidFill>
                <a:latin typeface="Raleway" pitchFamily="2" charset="77"/>
              </a:rPr>
              <a:t>5 years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Raleway" pitchFamily="2" charset="77"/>
              </a:rPr>
              <a:t>Gender: </a:t>
            </a:r>
            <a:r>
              <a:rPr lang="en-US" sz="2800" dirty="0">
                <a:solidFill>
                  <a:schemeClr val="bg1"/>
                </a:solidFill>
                <a:latin typeface="Raleway" pitchFamily="2" charset="77"/>
              </a:rPr>
              <a:t>Female</a:t>
            </a:r>
            <a:endParaRPr lang="en-US" sz="2800" b="1" dirty="0">
              <a:solidFill>
                <a:schemeClr val="bg1"/>
              </a:solidFill>
              <a:latin typeface="Raleway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Raleway" pitchFamily="2" charset="77"/>
              </a:rPr>
              <a:t>Breed: </a:t>
            </a:r>
            <a:r>
              <a:rPr lang="en-US" sz="2800" dirty="0">
                <a:solidFill>
                  <a:schemeClr val="bg1"/>
                </a:solidFill>
                <a:latin typeface="Raleway" pitchFamily="2" charset="77"/>
              </a:rPr>
              <a:t>American/Netherland mix</a:t>
            </a:r>
            <a:endParaRPr lang="en-US" sz="2800" b="1" dirty="0">
              <a:solidFill>
                <a:schemeClr val="bg1"/>
              </a:solidFill>
              <a:latin typeface="Raleway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Raleway" pitchFamily="2" charset="77"/>
              </a:rPr>
              <a:t>Characteristics: </a:t>
            </a:r>
            <a:r>
              <a:rPr lang="en-US" sz="2800" dirty="0">
                <a:solidFill>
                  <a:schemeClr val="bg1"/>
                </a:solidFill>
                <a:latin typeface="Raleway" pitchFamily="2" charset="77"/>
              </a:rPr>
              <a:t>black, short hair</a:t>
            </a:r>
            <a:endParaRPr lang="en-US" sz="2800" b="1" dirty="0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39345-FCB2-06FA-6180-47D31564EACF}"/>
              </a:ext>
            </a:extLst>
          </p:cNvPr>
          <p:cNvSpPr txBox="1"/>
          <p:nvPr/>
        </p:nvSpPr>
        <p:spPr>
          <a:xfrm>
            <a:off x="213432" y="6368332"/>
            <a:ext cx="6216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Raleway" pitchFamily="2" charset="77"/>
              </a:rPr>
              <a:t>Image by author</a:t>
            </a:r>
          </a:p>
        </p:txBody>
      </p:sp>
    </p:spTree>
    <p:extLst>
      <p:ext uri="{BB962C8B-B14F-4D97-AF65-F5344CB8AC3E}">
        <p14:creationId xmlns:p14="http://schemas.microsoft.com/office/powerpoint/2010/main" val="351875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person holding a rabbit&#10;&#10;AI-generated content may be incorrect.">
            <a:extLst>
              <a:ext uri="{FF2B5EF4-FFF2-40B4-BE49-F238E27FC236}">
                <a16:creationId xmlns:a16="http://schemas.microsoft.com/office/drawing/2014/main" id="{59584FAD-06DC-5D72-5901-2C595CC292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7" t="1954" r="13719" b="-1"/>
          <a:stretch>
            <a:fillRect/>
          </a:stretch>
        </p:blipFill>
        <p:spPr>
          <a:xfrm>
            <a:off x="3523488" y="3048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57B7E-940F-49D9-FA79-95CB00E0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Raleway" pitchFamily="2" charset="77"/>
              </a:rPr>
              <a:t>Background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1F77E7-5D9C-0B93-E027-129345AE2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6201156" cy="320725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Raleway" pitchFamily="2" charset="77"/>
              </a:rPr>
              <a:t>Rabbits are in approximately 900,000 homes in the US (0.7% of all homes)</a:t>
            </a:r>
            <a:r>
              <a:rPr lang="en-US" baseline="30000" dirty="0">
                <a:latin typeface="Raleway" pitchFamily="2" charset="77"/>
              </a:rPr>
              <a:t>1</a:t>
            </a:r>
            <a:endParaRPr lang="en-US" dirty="0">
              <a:latin typeface="Raleway" pitchFamily="2" charset="77"/>
            </a:endParaRPr>
          </a:p>
          <a:p>
            <a:r>
              <a:rPr lang="en-US" dirty="0">
                <a:latin typeface="Raleway" pitchFamily="2" charset="77"/>
              </a:rPr>
              <a:t>In 2024</a:t>
            </a:r>
            <a:r>
              <a:rPr lang="en-US" baseline="30000" dirty="0">
                <a:latin typeface="Raleway" pitchFamily="2" charset="77"/>
              </a:rPr>
              <a:t>2</a:t>
            </a:r>
            <a:endParaRPr lang="en-US" dirty="0">
              <a:latin typeface="Raleway" pitchFamily="2" charset="77"/>
            </a:endParaRPr>
          </a:p>
          <a:p>
            <a:pPr lvl="1"/>
            <a:r>
              <a:rPr lang="en-US" sz="2000" dirty="0">
                <a:latin typeface="Raleway" pitchFamily="2" charset="77"/>
              </a:rPr>
              <a:t>11,223 intakes of rabbits into shelters</a:t>
            </a:r>
          </a:p>
          <a:p>
            <a:pPr lvl="1"/>
            <a:r>
              <a:rPr lang="en-US" sz="2000" dirty="0">
                <a:latin typeface="Raleway" pitchFamily="2" charset="77"/>
              </a:rPr>
              <a:t>57% were owner-surrendered</a:t>
            </a:r>
          </a:p>
          <a:p>
            <a:pPr lvl="1"/>
            <a:r>
              <a:rPr lang="en-US" sz="2000" dirty="0">
                <a:latin typeface="Raleway" pitchFamily="2" charset="77"/>
              </a:rPr>
              <a:t>9,148 adopted (rate – 78%)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4C2DC0-9C0E-8832-CE9F-63B8053E1F8D}"/>
              </a:ext>
            </a:extLst>
          </p:cNvPr>
          <p:cNvSpPr txBox="1"/>
          <p:nvPr/>
        </p:nvSpPr>
        <p:spPr>
          <a:xfrm>
            <a:off x="371094" y="5644078"/>
            <a:ext cx="77216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baseline="30000" dirty="0">
                <a:effectLst/>
              </a:rPr>
              <a:t>1 </a:t>
            </a:r>
            <a:r>
              <a:rPr lang="en-US" sz="1200" i="1" dirty="0">
                <a:effectLst/>
              </a:rPr>
              <a:t>U.S. pet ownership statistics | American Veterinary Medical Association</a:t>
            </a:r>
            <a:r>
              <a:rPr lang="en-US" sz="1200" dirty="0">
                <a:effectLst/>
              </a:rPr>
              <a:t>. (2025). Retrieved December 6, 2025, from </a:t>
            </a:r>
            <a:r>
              <a:rPr lang="en-US" sz="1200" dirty="0">
                <a:effectLst/>
                <a:hlinkClick r:id="rId3"/>
              </a:rPr>
              <a:t>https://www.avma.org/resources-tools/reports-statistics/us-pet-ownership-statistics</a:t>
            </a:r>
            <a:endParaRPr lang="en-US" sz="1200" dirty="0">
              <a:effectLst/>
            </a:endParaRPr>
          </a:p>
          <a:p>
            <a:endParaRPr lang="en-US" sz="1200" dirty="0">
              <a:effectLst/>
            </a:endParaRPr>
          </a:p>
          <a:p>
            <a:r>
              <a:rPr lang="en-US" sz="1200" baseline="30000" dirty="0">
                <a:effectLst/>
              </a:rPr>
              <a:t>2 </a:t>
            </a:r>
            <a:r>
              <a:rPr lang="en-US" sz="1200" dirty="0">
                <a:effectLst/>
              </a:rPr>
              <a:t>2024 Statistics. (2024). </a:t>
            </a:r>
            <a:r>
              <a:rPr lang="en-US" sz="1200" i="1" dirty="0">
                <a:effectLst/>
              </a:rPr>
              <a:t>Shelter Animals Count</a:t>
            </a:r>
            <a:r>
              <a:rPr lang="en-US" sz="1200" dirty="0">
                <a:effectLst/>
              </a:rPr>
              <a:t>. Retrieved December 6, 2025, from </a:t>
            </a:r>
            <a:r>
              <a:rPr lang="en-US" sz="1200" dirty="0">
                <a:effectLst/>
                <a:hlinkClick r:id="rId4"/>
              </a:rPr>
              <a:t>https://www.shelteranimalscount.org/explore-the-data/statistics-2024/</a:t>
            </a:r>
            <a:endParaRPr lang="en-US" sz="12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2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FC403-3B48-08E6-57C3-A962E026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855339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Data Description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map of a country with different colored squares&#10;&#10;AI-generated content may be incorrect.">
            <a:extLst>
              <a:ext uri="{FF2B5EF4-FFF2-40B4-BE49-F238E27FC236}">
                <a16:creationId xmlns:a16="http://schemas.microsoft.com/office/drawing/2014/main" id="{66698213-71CE-D14A-B5CF-8EA12590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57" y="886326"/>
            <a:ext cx="7366943" cy="50853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6CFF8-F494-62EE-C992-434C136E5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4530999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Raleway" pitchFamily="2" charset="77"/>
              </a:rPr>
              <a:t>Rabbit records (n= 1,807) from shelters in British Columbia, Canada from 2017-2021.</a:t>
            </a:r>
          </a:p>
          <a:p>
            <a:r>
              <a:rPr lang="en-US" sz="2200" dirty="0">
                <a:latin typeface="Raleway" pitchFamily="2" charset="77"/>
              </a:rPr>
              <a:t>Data obtained from </a:t>
            </a:r>
            <a:r>
              <a:rPr lang="en-US" sz="2200" dirty="0" err="1">
                <a:latin typeface="Raleway" pitchFamily="2" charset="77"/>
              </a:rPr>
              <a:t>ShelterBuddy</a:t>
            </a:r>
            <a:r>
              <a:rPr lang="en-US" sz="2200" dirty="0">
                <a:latin typeface="Raleway" pitchFamily="2" charset="77"/>
              </a:rPr>
              <a:t>, a tracking database used by the shelters in BC.</a:t>
            </a:r>
          </a:p>
          <a:p>
            <a:r>
              <a:rPr lang="en-US" sz="2200" dirty="0">
                <a:latin typeface="Raleway" pitchFamily="2" charset="77"/>
              </a:rPr>
              <a:t>Factors included rabbit breed, primary coat color, length of stay and date of birth.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7BB5B5-93E5-926C-5742-C4FF9836C32C}"/>
              </a:ext>
            </a:extLst>
          </p:cNvPr>
          <p:cNvSpPr txBox="1"/>
          <p:nvPr/>
        </p:nvSpPr>
        <p:spPr>
          <a:xfrm>
            <a:off x="7860890" y="6217920"/>
            <a:ext cx="4116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Raleway" pitchFamily="2" charset="77"/>
              </a:rPr>
              <a:t>Map made in R using dataset with Lat/Long coordinates from Canadian government</a:t>
            </a:r>
          </a:p>
        </p:txBody>
      </p:sp>
    </p:spTree>
    <p:extLst>
      <p:ext uri="{BB962C8B-B14F-4D97-AF65-F5344CB8AC3E}">
        <p14:creationId xmlns:p14="http://schemas.microsoft.com/office/powerpoint/2010/main" val="72615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BB391-F9B9-8A23-B952-80E3707A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Raleway" pitchFamily="2" charset="77"/>
              </a:rPr>
              <a:t>Rabbit Breeds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rabbit breed&#10;&#10;AI-generated content may be incorrect.">
            <a:extLst>
              <a:ext uri="{FF2B5EF4-FFF2-40B4-BE49-F238E27FC236}">
                <a16:creationId xmlns:a16="http://schemas.microsoft.com/office/drawing/2014/main" id="{3B2A1A90-F57B-0232-CFB9-FE4CB3B35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574" y="378578"/>
            <a:ext cx="7042027" cy="6267404"/>
          </a:xfrm>
          <a:prstGeom prst="rect">
            <a:avLst/>
          </a:prstGeom>
        </p:spPr>
      </p:pic>
      <p:pic>
        <p:nvPicPr>
          <p:cNvPr id="9" name="Picture 8" descr="A close up of a rabbit&#10;&#10;AI-generated content may be incorrect.">
            <a:extLst>
              <a:ext uri="{FF2B5EF4-FFF2-40B4-BE49-F238E27FC236}">
                <a16:creationId xmlns:a16="http://schemas.microsoft.com/office/drawing/2014/main" id="{CAEDD20E-FDE3-F5D1-AF90-E86010951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99" y="4624113"/>
            <a:ext cx="2119188" cy="2142448"/>
          </a:xfrm>
          <a:prstGeom prst="rect">
            <a:avLst/>
          </a:prstGeom>
        </p:spPr>
      </p:pic>
      <p:pic>
        <p:nvPicPr>
          <p:cNvPr id="13" name="Picture 12" descr="A rabbit with long hair&#10;&#10;AI-generated content may be incorrect.">
            <a:extLst>
              <a:ext uri="{FF2B5EF4-FFF2-40B4-BE49-F238E27FC236}">
                <a16:creationId xmlns:a16="http://schemas.microsoft.com/office/drawing/2014/main" id="{30ABA91A-0D5F-0D35-92D8-EF413E7B2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146" y="4496696"/>
            <a:ext cx="1819528" cy="21492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82403B-8546-5816-1F2F-62899772BFA8}"/>
              </a:ext>
            </a:extLst>
          </p:cNvPr>
          <p:cNvSpPr txBox="1"/>
          <p:nvPr/>
        </p:nvSpPr>
        <p:spPr>
          <a:xfrm>
            <a:off x="512373" y="47540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aleway" pitchFamily="2" charset="77"/>
              </a:rPr>
              <a:t>lop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27473-F670-088E-C781-62C1DDBEDFF9}"/>
              </a:ext>
            </a:extLst>
          </p:cNvPr>
          <p:cNvSpPr txBox="1"/>
          <p:nvPr/>
        </p:nvSpPr>
        <p:spPr>
          <a:xfrm>
            <a:off x="3475552" y="6034141"/>
            <a:ext cx="116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aleway" pitchFamily="2" charset="77"/>
              </a:rPr>
              <a:t>lionhead</a:t>
            </a:r>
          </a:p>
        </p:txBody>
      </p:sp>
    </p:spTree>
    <p:extLst>
      <p:ext uri="{BB962C8B-B14F-4D97-AF65-F5344CB8AC3E}">
        <p14:creationId xmlns:p14="http://schemas.microsoft.com/office/powerpoint/2010/main" val="2423599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ED49-D833-ED91-756B-B81BB2E8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aleway" pitchFamily="2" charset="77"/>
              </a:rPr>
              <a:t>Rabbit Coat Colors</a:t>
            </a:r>
          </a:p>
        </p:txBody>
      </p:sp>
      <p:pic>
        <p:nvPicPr>
          <p:cNvPr id="5" name="Content Placeholder 4" descr="A graph of different colors of rabbit coat&#10;&#10;AI-generated content may be incorrect.">
            <a:extLst>
              <a:ext uri="{FF2B5EF4-FFF2-40B4-BE49-F238E27FC236}">
                <a16:creationId xmlns:a16="http://schemas.microsoft.com/office/drawing/2014/main" id="{FA4D7A89-2795-87E0-7AF8-266F86834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84" y="1540278"/>
            <a:ext cx="10017753" cy="4952597"/>
          </a:xfrm>
        </p:spPr>
      </p:pic>
      <p:pic>
        <p:nvPicPr>
          <p:cNvPr id="7" name="Picture 6" descr="A rabbit and a bird holding a sign&#10;&#10;AI-generated content may be incorrect.">
            <a:extLst>
              <a:ext uri="{FF2B5EF4-FFF2-40B4-BE49-F238E27FC236}">
                <a16:creationId xmlns:a16="http://schemas.microsoft.com/office/drawing/2014/main" id="{2603FCDC-7D8D-7D8A-80FE-D8D89565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99"/>
          <a:stretch>
            <a:fillRect/>
          </a:stretch>
        </p:blipFill>
        <p:spPr>
          <a:xfrm>
            <a:off x="10089393" y="1027906"/>
            <a:ext cx="1950939" cy="516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7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C1621-3ACC-EA95-36C0-0A79AC8F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of Stay (LOS) at Shelters</a:t>
            </a:r>
          </a:p>
        </p:txBody>
      </p:sp>
      <p:pic>
        <p:nvPicPr>
          <p:cNvPr id="5" name="Picture 4" descr="A graph of a box plot&#10;&#10;AI-generated content may be incorrect.">
            <a:extLst>
              <a:ext uri="{FF2B5EF4-FFF2-40B4-BE49-F238E27FC236}">
                <a16:creationId xmlns:a16="http://schemas.microsoft.com/office/drawing/2014/main" id="{12077CCC-9852-2ADA-2EBD-F603D946D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81" y="1663565"/>
            <a:ext cx="5509257" cy="4802187"/>
          </a:xfrm>
          <a:prstGeom prst="rect">
            <a:avLst/>
          </a:prstGeom>
        </p:spPr>
      </p:pic>
      <p:pic>
        <p:nvPicPr>
          <p:cNvPr id="7" name="Picture 6" descr="A graph of a rabbit&#10;&#10;AI-generated content may be incorrect.">
            <a:extLst>
              <a:ext uri="{FF2B5EF4-FFF2-40B4-BE49-F238E27FC236}">
                <a16:creationId xmlns:a16="http://schemas.microsoft.com/office/drawing/2014/main" id="{CCCB5AF8-7F76-108A-6112-D25437DF2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247" y="1663565"/>
            <a:ext cx="6177369" cy="4829310"/>
          </a:xfrm>
          <a:prstGeom prst="rect">
            <a:avLst/>
          </a:prstGeom>
        </p:spPr>
      </p:pic>
      <p:pic>
        <p:nvPicPr>
          <p:cNvPr id="9" name="Picture 8" descr="A graph of a line graph&#10;&#10;AI-generated content may be incorrect.">
            <a:extLst>
              <a:ext uri="{FF2B5EF4-FFF2-40B4-BE49-F238E27FC236}">
                <a16:creationId xmlns:a16="http://schemas.microsoft.com/office/drawing/2014/main" id="{298917DB-8C27-C3CB-8F50-218F314C4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246" y="1592000"/>
            <a:ext cx="6177369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7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E204DC-21D8-498C-ECF2-07079DB9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aleway" pitchFamily="2" charset="77"/>
              </a:rPr>
              <a:t>Leading Indicators of Length of Stay</a:t>
            </a:r>
            <a:br>
              <a:rPr lang="en-US" sz="4000" dirty="0">
                <a:latin typeface="Raleway" pitchFamily="2" charset="77"/>
              </a:rPr>
            </a:br>
            <a:r>
              <a:rPr lang="en-US" sz="2400" dirty="0">
                <a:latin typeface="Raleway" pitchFamily="2" charset="77"/>
              </a:rPr>
              <a:t>Multilinear Regression Analysis: U. et al. (2024)</a:t>
            </a:r>
            <a:endParaRPr lang="en-US" sz="4000" dirty="0">
              <a:latin typeface="Raleway" pitchFamily="2" charset="77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DC0EFD-7F0A-D77D-E66E-5FBF7250CA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88358576"/>
              </p:ext>
            </p:extLst>
          </p:nvPr>
        </p:nvGraphicFramePr>
        <p:xfrm>
          <a:off x="838200" y="2681968"/>
          <a:ext cx="60705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3248731419"/>
                    </a:ext>
                  </a:extLst>
                </a:gridCol>
                <a:gridCol w="2388809">
                  <a:extLst>
                    <a:ext uri="{9D8B030D-6E8A-4147-A177-3AD203B41FA5}">
                      <a16:colId xmlns:a16="http://schemas.microsoft.com/office/drawing/2014/main" val="1462284113"/>
                    </a:ext>
                  </a:extLst>
                </a:gridCol>
                <a:gridCol w="2023533">
                  <a:extLst>
                    <a:ext uri="{9D8B030D-6E8A-4147-A177-3AD203B41FA5}">
                      <a16:colId xmlns:a16="http://schemas.microsoft.com/office/drawing/2014/main" val="2347655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Strength (p-value)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Direction of Stay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908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Very strong (7.2e-7)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Younger = shorter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8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Breed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Strong (5.5e-6)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Giant = shorter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66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Intake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Moderate (7.8e-4)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May = longest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170639"/>
                  </a:ext>
                </a:extLst>
              </a:tr>
            </a:tbl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D9E9172-609E-5D07-4339-DE01553F1A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57198440"/>
              </p:ext>
            </p:extLst>
          </p:nvPr>
        </p:nvGraphicFramePr>
        <p:xfrm>
          <a:off x="7068456" y="2681968"/>
          <a:ext cx="428534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672">
                  <a:extLst>
                    <a:ext uri="{9D8B030D-6E8A-4147-A177-3AD203B41FA5}">
                      <a16:colId xmlns:a16="http://schemas.microsoft.com/office/drawing/2014/main" val="4016507323"/>
                    </a:ext>
                  </a:extLst>
                </a:gridCol>
                <a:gridCol w="2142672">
                  <a:extLst>
                    <a:ext uri="{9D8B030D-6E8A-4147-A177-3AD203B41FA5}">
                      <a16:colId xmlns:a16="http://schemas.microsoft.com/office/drawing/2014/main" val="1920395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Strength (p-value)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665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Very weak (0.12)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Primary Coat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Weak (0.082)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28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Ear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Very weak (0.68)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8423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71399D2-2C3F-DC25-722A-598209E12589}"/>
              </a:ext>
            </a:extLst>
          </p:cNvPr>
          <p:cNvSpPr txBox="1"/>
          <p:nvPr/>
        </p:nvSpPr>
        <p:spPr>
          <a:xfrm>
            <a:off x="765630" y="1901371"/>
            <a:ext cx="6070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aleway" pitchFamily="2" charset="77"/>
              </a:rPr>
              <a:t>Factors with impact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A9D44-B03A-B0E7-AA5B-3F38330C7E86}"/>
              </a:ext>
            </a:extLst>
          </p:cNvPr>
          <p:cNvSpPr txBox="1"/>
          <p:nvPr/>
        </p:nvSpPr>
        <p:spPr>
          <a:xfrm>
            <a:off x="7010400" y="1924718"/>
            <a:ext cx="6070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aleway" pitchFamily="2" charset="77"/>
              </a:rPr>
              <a:t>Factors without 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17DFE4-01CC-D1A5-605B-8CD3C1CA99D4}"/>
              </a:ext>
            </a:extLst>
          </p:cNvPr>
          <p:cNvSpPr txBox="1"/>
          <p:nvPr/>
        </p:nvSpPr>
        <p:spPr>
          <a:xfrm>
            <a:off x="3599543" y="5428343"/>
            <a:ext cx="7855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aleway" pitchFamily="2" charset="77"/>
              </a:rPr>
              <a:t>U. ASY, Hou CY, </a:t>
            </a:r>
            <a:r>
              <a:rPr lang="en-US" dirty="0" err="1">
                <a:latin typeface="Raleway" pitchFamily="2" charset="77"/>
              </a:rPr>
              <a:t>Protopopova</a:t>
            </a:r>
            <a:r>
              <a:rPr lang="en-US" dirty="0">
                <a:latin typeface="Raleway" pitchFamily="2" charset="77"/>
              </a:rPr>
              <a:t>, A (2024) Rabbit intakes and predictors of their length of stay in animal shelters in British Colombia, Canada. </a:t>
            </a:r>
            <a:r>
              <a:rPr lang="en-US" dirty="0" err="1">
                <a:latin typeface="Raleway" pitchFamily="2" charset="77"/>
              </a:rPr>
              <a:t>PLoS</a:t>
            </a:r>
            <a:r>
              <a:rPr lang="en-US" dirty="0">
                <a:latin typeface="Raleway" pitchFamily="2" charset="77"/>
              </a:rPr>
              <a:t> ONE 19(4): e0300633. https://</a:t>
            </a:r>
            <a:r>
              <a:rPr lang="en-US" dirty="0" err="1">
                <a:latin typeface="Raleway" pitchFamily="2" charset="77"/>
              </a:rPr>
              <a:t>doi.org</a:t>
            </a:r>
            <a:r>
              <a:rPr lang="en-US" dirty="0">
                <a:latin typeface="Raleway" pitchFamily="2" charset="77"/>
              </a:rPr>
              <a:t>/10.1371/journal.pone.0300633</a:t>
            </a:r>
          </a:p>
        </p:txBody>
      </p:sp>
    </p:spTree>
    <p:extLst>
      <p:ext uri="{BB962C8B-B14F-4D97-AF65-F5344CB8AC3E}">
        <p14:creationId xmlns:p14="http://schemas.microsoft.com/office/powerpoint/2010/main" val="342527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trail through a forest&#10;&#10;AI-generated content may be incorrect.">
            <a:extLst>
              <a:ext uri="{FF2B5EF4-FFF2-40B4-BE49-F238E27FC236}">
                <a16:creationId xmlns:a16="http://schemas.microsoft.com/office/drawing/2014/main" id="{B78CB055-DE20-99C7-FBF4-E2087EA6C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23289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3CEB8-7BE0-DAA2-4F0E-49623A34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5231420" cy="112471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Raleway" pitchFamily="2" charset="77"/>
              </a:rPr>
              <a:t>Random Forest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00B05F-78A2-7785-933B-67301780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7298068" cy="387300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Random Forest analysis is a machine learning methodology that uses decision tree analysis.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Decision tree problems start from the root, and move along decision nodes to leaves that indicate no more information is gained.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Random Forest aggregates and averages many decision trees; this reduces overfitting.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  <a:latin typeface="Raleway" pitchFamily="2" charset="77"/>
              </a:rPr>
              <a:t>Random Forest analysis is good for data with a lot of categorical features. 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4955F-8451-BD38-04CF-BE8F83F02F94}"/>
              </a:ext>
            </a:extLst>
          </p:cNvPr>
          <p:cNvSpPr txBox="1"/>
          <p:nvPr/>
        </p:nvSpPr>
        <p:spPr>
          <a:xfrm>
            <a:off x="7951764" y="5943597"/>
            <a:ext cx="4151746" cy="738664"/>
          </a:xfrm>
          <a:prstGeom prst="rect">
            <a:avLst/>
          </a:prstGeom>
          <a:solidFill>
            <a:srgbClr val="0D3512">
              <a:alpha val="47059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90000"/>
                  </a:schemeClr>
                </a:solidFill>
                <a:effectLst/>
              </a:rPr>
              <a:t>Kavlocoglu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  <a:effectLst/>
              </a:rPr>
              <a:t>, E. (2021, October 20). </a:t>
            </a:r>
            <a:r>
              <a:rPr lang="en-US" sz="1400" i="1" dirty="0">
                <a:solidFill>
                  <a:schemeClr val="bg2">
                    <a:lumMod val="90000"/>
                  </a:schemeClr>
                </a:solidFill>
                <a:effectLst/>
              </a:rPr>
              <a:t>What Is Random Forest? | IBM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  <a:effectLst/>
              </a:rPr>
              <a:t>. 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https://www.ibm.com/think/topics/random-forest</a:t>
            </a:r>
            <a:endParaRPr lang="en-US" sz="1400" dirty="0">
              <a:solidFill>
                <a:schemeClr val="bg2">
                  <a:lumMod val="9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900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E6078-1C46-F006-C341-3F01793A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latin typeface="Raleway" pitchFamily="2" charset="77"/>
              </a:rPr>
              <a:t>First Train/Test:</a:t>
            </a:r>
            <a:br>
              <a:rPr lang="en-US" sz="3800" dirty="0">
                <a:latin typeface="Raleway" pitchFamily="2" charset="77"/>
              </a:rPr>
            </a:br>
            <a:r>
              <a:rPr lang="en-US" sz="3800" dirty="0">
                <a:latin typeface="Raleway" pitchFamily="2" charset="77"/>
              </a:rPr>
              <a:t>Data Leakage!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322B-3089-3DCA-78E9-4DCDB2BB5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766893" cy="3410712"/>
          </a:xfrm>
        </p:spPr>
        <p:txBody>
          <a:bodyPr anchor="t">
            <a:normAutofit/>
          </a:bodyPr>
          <a:lstStyle/>
          <a:p>
            <a:r>
              <a:rPr lang="en-US" sz="1900" b="1" dirty="0">
                <a:latin typeface="Raleway" pitchFamily="2" charset="77"/>
              </a:rPr>
              <a:t>Overfitting/Data leakage example:</a:t>
            </a:r>
          </a:p>
          <a:p>
            <a:pPr lvl="1"/>
            <a:r>
              <a:rPr lang="en-US" sz="1900" dirty="0">
                <a:latin typeface="Raleway" pitchFamily="2" charset="77"/>
              </a:rPr>
              <a:t>a professor made every answer on a multiple choice test “C”</a:t>
            </a:r>
          </a:p>
          <a:p>
            <a:pPr lvl="1"/>
            <a:r>
              <a:rPr lang="en-US" sz="1900" dirty="0">
                <a:latin typeface="Raleway" pitchFamily="2" charset="77"/>
              </a:rPr>
              <a:t>You train your algorithm on this exam</a:t>
            </a:r>
          </a:p>
          <a:p>
            <a:pPr lvl="1"/>
            <a:r>
              <a:rPr lang="en-US" sz="1900" dirty="0">
                <a:latin typeface="Raleway" pitchFamily="2" charset="77"/>
              </a:rPr>
              <a:t>It then thinks every multiple choice answer is C (</a:t>
            </a:r>
            <a:r>
              <a:rPr lang="en-US" sz="1900" b="1" dirty="0">
                <a:latin typeface="Raleway" pitchFamily="2" charset="77"/>
              </a:rPr>
              <a:t>and ignores other factors</a:t>
            </a:r>
            <a:r>
              <a:rPr lang="en-US" sz="1900" dirty="0">
                <a:latin typeface="Raleway" pitchFamily="2" charset="77"/>
              </a:rPr>
              <a:t>)</a:t>
            </a:r>
          </a:p>
        </p:txBody>
      </p:sp>
      <p:pic>
        <p:nvPicPr>
          <p:cNvPr id="5" name="Picture 4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D3828633-A672-106C-D04A-DA5C9CCBF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50252"/>
            <a:ext cx="6903720" cy="555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20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13B2B-035B-70F8-AEF4-634FB6FA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D4FD9-30FA-3F76-C8A8-53ABEBC6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latin typeface="Raleway" pitchFamily="2" charset="77"/>
              </a:rPr>
              <a:t>Second Train/Test:</a:t>
            </a:r>
            <a:br>
              <a:rPr lang="en-US" sz="3800" dirty="0">
                <a:latin typeface="Raleway" pitchFamily="2" charset="77"/>
              </a:rPr>
            </a:br>
            <a:r>
              <a:rPr lang="en-US" sz="3800" dirty="0">
                <a:latin typeface="Raleway" pitchFamily="2" charset="77"/>
              </a:rPr>
              <a:t>Much Better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46CB-3E85-5609-FB0C-918ABD1B0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Raleway" pitchFamily="2" charset="77"/>
              </a:rPr>
              <a:t>Top Indicators</a:t>
            </a:r>
          </a:p>
          <a:p>
            <a:r>
              <a:rPr lang="en-US" sz="2400" dirty="0">
                <a:latin typeface="Raleway" pitchFamily="2" charset="77"/>
              </a:rPr>
              <a:t>Gender (unknown)</a:t>
            </a:r>
          </a:p>
          <a:p>
            <a:r>
              <a:rPr lang="en-US" sz="2400" dirty="0">
                <a:latin typeface="Raleway" pitchFamily="2" charset="77"/>
              </a:rPr>
              <a:t>Age</a:t>
            </a:r>
          </a:p>
          <a:p>
            <a:r>
              <a:rPr lang="en-US" sz="2400" dirty="0">
                <a:latin typeface="Raleway" pitchFamily="2" charset="77"/>
              </a:rPr>
              <a:t>Gender (male)</a:t>
            </a:r>
          </a:p>
          <a:p>
            <a:r>
              <a:rPr lang="en-US" sz="2400" dirty="0">
                <a:latin typeface="Raleway" pitchFamily="2" charset="77"/>
              </a:rPr>
              <a:t>Breed (lop)</a:t>
            </a:r>
          </a:p>
          <a:p>
            <a:r>
              <a:rPr lang="en-US" sz="2400" dirty="0">
                <a:latin typeface="Raleway" pitchFamily="2" charset="77"/>
              </a:rPr>
              <a:t>Source (stray)</a:t>
            </a:r>
          </a:p>
          <a:p>
            <a:r>
              <a:rPr lang="en-US" sz="2400" dirty="0">
                <a:latin typeface="Raleway" pitchFamily="2" charset="77"/>
              </a:rPr>
              <a:t>Color (brown)</a:t>
            </a:r>
          </a:p>
        </p:txBody>
      </p:sp>
      <p:pic>
        <p:nvPicPr>
          <p:cNvPr id="6" name="Picture 5" descr="A graph with blue bars&#10;&#10;AI-generated content may be incorrect.">
            <a:extLst>
              <a:ext uri="{FF2B5EF4-FFF2-40B4-BE49-F238E27FC236}">
                <a16:creationId xmlns:a16="http://schemas.microsoft.com/office/drawing/2014/main" id="{F5E98485-3911-9940-6E42-BAA3254BB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02" y="640080"/>
            <a:ext cx="6700107" cy="5577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7CBC07-2254-45AF-413A-E1DA788C3B42}"/>
              </a:ext>
            </a:extLst>
          </p:cNvPr>
          <p:cNvSpPr txBox="1"/>
          <p:nvPr/>
        </p:nvSpPr>
        <p:spPr>
          <a:xfrm>
            <a:off x="8229454" y="3312235"/>
            <a:ext cx="4084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chemeClr val="accent2">
                    <a:lumMod val="75000"/>
                  </a:schemeClr>
                </a:solidFill>
                <a:latin typeface="Raleway" pitchFamily="2" charset="77"/>
              </a:rPr>
              <a:t>But which direction?</a:t>
            </a:r>
          </a:p>
        </p:txBody>
      </p:sp>
    </p:spTree>
    <p:extLst>
      <p:ext uri="{BB962C8B-B14F-4D97-AF65-F5344CB8AC3E}">
        <p14:creationId xmlns:p14="http://schemas.microsoft.com/office/powerpoint/2010/main" val="37867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A39F3-327C-3335-0D82-34BC2C1A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75A7-52CC-F4BC-0D7B-32B8E3C6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Raleway" pitchFamily="2" charset="77"/>
              </a:rPr>
              <a:t>SHAP Analysis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F2889B-203C-E643-4CAC-98092CDC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5099280" cy="3722260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Raleway" pitchFamily="2" charset="77"/>
              </a:rPr>
              <a:t>SH</a:t>
            </a:r>
            <a:r>
              <a:rPr lang="en-US" dirty="0">
                <a:latin typeface="Raleway" pitchFamily="2" charset="77"/>
              </a:rPr>
              <a:t>apley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Raleway" pitchFamily="2" charset="77"/>
              </a:rPr>
              <a:t>A</a:t>
            </a:r>
            <a:r>
              <a:rPr lang="en-US" dirty="0">
                <a:latin typeface="Raleway" pitchFamily="2" charset="77"/>
              </a:rPr>
              <a:t>ddictive </a:t>
            </a:r>
            <a:r>
              <a:rPr lang="en-US" dirty="0" err="1">
                <a:latin typeface="Raleway" pitchFamily="2" charset="77"/>
              </a:rPr>
              <a:t>ex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Raleway" pitchFamily="2" charset="77"/>
              </a:rPr>
              <a:t>P</a:t>
            </a:r>
            <a:r>
              <a:rPr lang="en-US" dirty="0" err="1">
                <a:latin typeface="Raleway" pitchFamily="2" charset="77"/>
              </a:rPr>
              <a:t>lanations</a:t>
            </a:r>
            <a:r>
              <a:rPr lang="en-US" dirty="0">
                <a:latin typeface="Raleway" pitchFamily="2" charset="7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Raleway" pitchFamily="2" charset="77"/>
              </a:rPr>
              <a:t>Each factor assigned an importance value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rgbClr val="FF0000"/>
                </a:solidFill>
                <a:latin typeface="Raleway" pitchFamily="2" charset="77"/>
              </a:rPr>
              <a:t>red</a:t>
            </a:r>
            <a:r>
              <a:rPr lang="en-US" dirty="0">
                <a:latin typeface="Raleway" pitchFamily="2" charset="77"/>
              </a:rPr>
              <a:t> = high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rgbClr val="00B0F0"/>
                </a:solidFill>
                <a:latin typeface="Raleway" pitchFamily="2" charset="77"/>
              </a:rPr>
              <a:t>blue</a:t>
            </a:r>
            <a:r>
              <a:rPr lang="en-US" dirty="0">
                <a:latin typeface="Raleway" pitchFamily="2" charset="77"/>
              </a:rPr>
              <a:t> = low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Raleway" pitchFamily="2" charset="77"/>
              </a:rPr>
              <a:t>Individual dots show direction of impact</a:t>
            </a:r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60428643-DDF5-13A9-2EA4-190B12BE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15" y="123721"/>
            <a:ext cx="5585921" cy="661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68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E600A-B080-AD9F-5375-DEAD8505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Raleway" pitchFamily="2" charset="77"/>
              </a:rPr>
              <a:t>SHAP Analysis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9DE25379-CD89-C58D-360A-B31759F6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18115" y="320040"/>
            <a:ext cx="5254142" cy="6217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0B1A9-987B-4E28-DFE3-639F2D025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78" y="2594932"/>
            <a:ext cx="11220513" cy="1103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E2343-1C53-60D8-C2AF-87C1805D5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78" y="3584289"/>
            <a:ext cx="10464753" cy="1029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B3CCF2-5157-C6A7-58FC-42AE415F4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61" y="4629936"/>
            <a:ext cx="9858710" cy="9700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49A258-CDBF-409B-4EA7-4E3926CFC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5" y="5493334"/>
            <a:ext cx="11340685" cy="9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0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2BDFC-C953-86AD-F562-4D0A80D54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Raleway" pitchFamily="2" charset="77"/>
              </a:rPr>
              <a:t>Takeaways</a:t>
            </a:r>
          </a:p>
        </p:txBody>
      </p:sp>
      <p:pic>
        <p:nvPicPr>
          <p:cNvPr id="5" name="Content Placeholder 4" descr="A rabbit standing on a computer&#10;&#10;AI-generated content may be incorrect.">
            <a:extLst>
              <a:ext uri="{FF2B5EF4-FFF2-40B4-BE49-F238E27FC236}">
                <a16:creationId xmlns:a16="http://schemas.microsoft.com/office/drawing/2014/main" id="{C53A73DE-FC48-A792-D658-55E1517E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07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DB434A-BFF9-60B5-BF2D-72E3F813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1" y="2706624"/>
            <a:ext cx="6434455" cy="382219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Raleway" pitchFamily="2" charset="77"/>
              </a:rPr>
              <a:t>Both the MLR and the RF models see the age of the rabbit as a leading indicator of their time in shelter.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Raleway" pitchFamily="2" charset="77"/>
              </a:rPr>
              <a:t>The RF model saw gender and ear type (lop/non-lop) as more influential compared to the MLR model.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Raleway" pitchFamily="2" charset="77"/>
              </a:rPr>
              <a:t>Both models indicated that coat color was not a reliable predictor of time in shelter.  </a:t>
            </a:r>
          </a:p>
        </p:txBody>
      </p:sp>
    </p:spTree>
    <p:extLst>
      <p:ext uri="{BB962C8B-B14F-4D97-AF65-F5344CB8AC3E}">
        <p14:creationId xmlns:p14="http://schemas.microsoft.com/office/powerpoint/2010/main" val="193328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82B25-D7EE-6735-D08A-2D3BEDB4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rabbit on a white surface&#10;&#10;AI-generated content may be incorrect.">
            <a:extLst>
              <a:ext uri="{FF2B5EF4-FFF2-40B4-BE49-F238E27FC236}">
                <a16:creationId xmlns:a16="http://schemas.microsoft.com/office/drawing/2014/main" id="{C94F87A8-9E0A-66DF-8B6C-91A9ECF973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664" b="1433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EAAA0C-4EA8-C1AD-C50F-9BD5073B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dirty="0">
                <a:solidFill>
                  <a:schemeClr val="bg1"/>
                </a:solidFill>
                <a:latin typeface="Raleway" pitchFamily="2" charset="77"/>
              </a:rPr>
              <a:t>Marley’s Time in Shelter: Predicted with Random Forest Model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BA5D1-D8BF-B1BC-1769-7F52B3A3BBDB}"/>
              </a:ext>
            </a:extLst>
          </p:cNvPr>
          <p:cNvSpPr txBox="1"/>
          <p:nvPr/>
        </p:nvSpPr>
        <p:spPr>
          <a:xfrm>
            <a:off x="838200" y="2092379"/>
            <a:ext cx="10515600" cy="4088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Raleway" pitchFamily="2" charset="77"/>
              </a:rPr>
              <a:t>Name: </a:t>
            </a:r>
            <a:r>
              <a:rPr lang="en-US" sz="2200" dirty="0">
                <a:solidFill>
                  <a:schemeClr val="bg1"/>
                </a:solidFill>
                <a:latin typeface="Raleway" pitchFamily="2" charset="77"/>
              </a:rPr>
              <a:t>Marley</a:t>
            </a:r>
            <a:endParaRPr lang="en-US" sz="2200" b="1" dirty="0">
              <a:solidFill>
                <a:schemeClr val="bg1"/>
              </a:solidFill>
              <a:latin typeface="Raleway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Raleway" pitchFamily="2" charset="77"/>
              </a:rPr>
              <a:t>Date of Birth: </a:t>
            </a:r>
            <a:r>
              <a:rPr lang="en-US" sz="2200" dirty="0">
                <a:solidFill>
                  <a:schemeClr val="bg1"/>
                </a:solidFill>
                <a:latin typeface="Raleway" pitchFamily="2" charset="77"/>
              </a:rPr>
              <a:t>2004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Raleway" pitchFamily="2" charset="77"/>
              </a:rPr>
              <a:t>Age at Adoption: </a:t>
            </a:r>
            <a:r>
              <a:rPr lang="en-US" sz="2200" dirty="0">
                <a:solidFill>
                  <a:schemeClr val="bg1"/>
                </a:solidFill>
                <a:latin typeface="Raleway" pitchFamily="2" charset="77"/>
              </a:rPr>
              <a:t>5 years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Raleway" pitchFamily="2" charset="77"/>
              </a:rPr>
              <a:t>Gender: </a:t>
            </a:r>
            <a:r>
              <a:rPr lang="en-US" sz="2200" dirty="0">
                <a:solidFill>
                  <a:schemeClr val="bg1"/>
                </a:solidFill>
                <a:latin typeface="Raleway" pitchFamily="2" charset="77"/>
              </a:rPr>
              <a:t>Female</a:t>
            </a:r>
            <a:endParaRPr lang="en-US" sz="2200" b="1" dirty="0">
              <a:solidFill>
                <a:schemeClr val="bg1"/>
              </a:solidFill>
              <a:latin typeface="Raleway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Raleway" pitchFamily="2" charset="77"/>
              </a:rPr>
              <a:t>Breed: </a:t>
            </a:r>
            <a:r>
              <a:rPr lang="en-US" sz="2200" dirty="0">
                <a:solidFill>
                  <a:schemeClr val="bg1"/>
                </a:solidFill>
                <a:latin typeface="Raleway" pitchFamily="2" charset="77"/>
              </a:rPr>
              <a:t>Netherland/American mix</a:t>
            </a:r>
            <a:endParaRPr lang="en-US" sz="2200" b="1" dirty="0">
              <a:solidFill>
                <a:schemeClr val="bg1"/>
              </a:solidFill>
              <a:latin typeface="Raleway" pitchFamily="2" charset="77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Raleway" pitchFamily="2" charset="77"/>
              </a:rPr>
              <a:t>Characteristics: </a:t>
            </a:r>
            <a:r>
              <a:rPr lang="en-US" sz="2200" dirty="0">
                <a:solidFill>
                  <a:schemeClr val="bg1"/>
                </a:solidFill>
                <a:latin typeface="Raleway" pitchFamily="2" charset="77"/>
              </a:rPr>
              <a:t>black, short hair</a:t>
            </a:r>
            <a:endParaRPr lang="en-US" sz="2200" b="1" dirty="0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06ACF-8069-AF3A-2B8D-2786BD5E9748}"/>
              </a:ext>
            </a:extLst>
          </p:cNvPr>
          <p:cNvSpPr txBox="1"/>
          <p:nvPr/>
        </p:nvSpPr>
        <p:spPr>
          <a:xfrm>
            <a:off x="1730828" y="4996543"/>
            <a:ext cx="4833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2">
                    <a:lumMod val="90000"/>
                  </a:schemeClr>
                </a:solidFill>
                <a:latin typeface="Raleway" pitchFamily="2" charset="77"/>
              </a:rPr>
              <a:t>3.48 days</a:t>
            </a:r>
          </a:p>
        </p:txBody>
      </p:sp>
    </p:spTree>
    <p:extLst>
      <p:ext uri="{BB962C8B-B14F-4D97-AF65-F5344CB8AC3E}">
        <p14:creationId xmlns:p14="http://schemas.microsoft.com/office/powerpoint/2010/main" val="1956595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F1C28-7F41-108C-FDC2-9E7F6F74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References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4924D-867A-9D59-9369-1CBBB8850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2286010"/>
            <a:ext cx="11282516" cy="4321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effectLst/>
              </a:rPr>
              <a:t>2024 Statistics. (</a:t>
            </a:r>
            <a:r>
              <a:rPr lang="en-US" sz="1400" dirty="0">
                <a:solidFill>
                  <a:schemeClr val="bg1"/>
                </a:solidFill>
              </a:rPr>
              <a:t>2024</a:t>
            </a:r>
            <a:r>
              <a:rPr lang="en-US" sz="1400" dirty="0">
                <a:solidFill>
                  <a:schemeClr val="bg1"/>
                </a:solidFill>
                <a:effectLst/>
              </a:rPr>
              <a:t>).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Shelter Animals Count</a:t>
            </a:r>
            <a:r>
              <a:rPr lang="en-US" sz="1400" dirty="0">
                <a:solidFill>
                  <a:schemeClr val="bg1"/>
                </a:solidFill>
                <a:effectLst/>
              </a:rPr>
              <a:t>. Retrieved December 6, 2025, from </a:t>
            </a:r>
            <a:r>
              <a:rPr lang="en-US" sz="1400" dirty="0">
                <a:solidFill>
                  <a:schemeClr val="bg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https://www.shelteranimalscount.org/explore-the-data/statistics-2024/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effectLst/>
              </a:rPr>
              <a:t>Cook, A. J., &amp; McCobb, E. (2012). Quantifying the Shelter Rabbit Population: An Analysis of Massachusetts and Rhode Island Animal Shelters.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Journal of Applied Animal Welfare Science</a:t>
            </a:r>
            <a:r>
              <a:rPr lang="en-US" sz="1400" dirty="0">
                <a:solidFill>
                  <a:schemeClr val="bg1"/>
                </a:solidFill>
                <a:effectLst/>
              </a:rPr>
              <a:t>,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15</a:t>
            </a:r>
            <a:r>
              <a:rPr lang="en-US" sz="1400" dirty="0">
                <a:solidFill>
                  <a:schemeClr val="bg1"/>
                </a:solidFill>
                <a:effectLst/>
              </a:rPr>
              <a:t>(4), 297–312. </a:t>
            </a:r>
            <a:r>
              <a:rPr lang="en-US" sz="1400" dirty="0">
                <a:solidFill>
                  <a:schemeClr val="bg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https://doi.org/10.1080/10888705.2012.709084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effectLst/>
              </a:rPr>
              <a:t>DeMello, M. (2016). Rabbits Multiplying Like Rabbits: The Rise in the Worldwide Popularity of Rabbits as Pets. In M. P.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Pręgowski</a:t>
            </a:r>
            <a:r>
              <a:rPr lang="en-US" sz="1400" dirty="0">
                <a:solidFill>
                  <a:schemeClr val="bg1"/>
                </a:solidFill>
                <a:effectLst/>
              </a:rPr>
              <a:t> (Ed.),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Companion Animals in Everyday Life: Situating Human-Animal Engagement within Cultures</a:t>
            </a:r>
            <a:r>
              <a:rPr lang="en-US" sz="1400" dirty="0">
                <a:solidFill>
                  <a:schemeClr val="bg1"/>
                </a:solidFill>
                <a:effectLst/>
              </a:rPr>
              <a:t> (pp. 91–107). Palgrave Macmillan US. </a:t>
            </a:r>
            <a:r>
              <a:rPr lang="en-US" sz="1400" dirty="0">
                <a:solidFill>
                  <a:schemeClr val="bg1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https://doi.org/10.1057/978-1-137-59572-0_7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effectLst/>
              </a:rPr>
              <a:t>Glasser, C. L. (2024). “The 21st Century Rabbit Paradox”: Attitudes Toward and Experiences with Rabbits in the United States.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Society &amp; Animals</a:t>
            </a:r>
            <a:r>
              <a:rPr lang="en-US" sz="1400" dirty="0">
                <a:solidFill>
                  <a:schemeClr val="bg1"/>
                </a:solidFill>
                <a:effectLst/>
              </a:rPr>
              <a:t>,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32</a:t>
            </a:r>
            <a:r>
              <a:rPr lang="en-US" sz="1400" dirty="0">
                <a:solidFill>
                  <a:schemeClr val="bg1"/>
                </a:solidFill>
                <a:effectLst/>
              </a:rPr>
              <a:t>(3), 287–308. </a:t>
            </a:r>
            <a:r>
              <a:rPr lang="en-US" sz="1400" dirty="0">
                <a:solidFill>
                  <a:schemeClr val="bg1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https://doi.org/10.1163/15685306-bja10100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effectLst/>
              </a:rPr>
              <a:t>Kavlocoglu</a:t>
            </a:r>
            <a:r>
              <a:rPr lang="en-US" sz="1400" dirty="0">
                <a:solidFill>
                  <a:schemeClr val="bg1"/>
                </a:solidFill>
                <a:effectLst/>
              </a:rPr>
              <a:t>, E. (2021, October 20).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What Is Random Forest? | IBM</a:t>
            </a:r>
            <a:r>
              <a:rPr lang="en-US" sz="1400" dirty="0">
                <a:solidFill>
                  <a:schemeClr val="bg1"/>
                </a:solidFill>
                <a:effectLst/>
              </a:rPr>
              <a:t>. </a:t>
            </a:r>
            <a:r>
              <a:rPr lang="en-US" sz="1400" dirty="0">
                <a:solidFill>
                  <a:schemeClr val="bg1"/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https://www.ibm.com/think/topics/random-forest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effectLst/>
              </a:rPr>
              <a:t>Shelter Animals Count</a:t>
            </a:r>
            <a:r>
              <a:rPr lang="en-US" sz="1400" dirty="0">
                <a:solidFill>
                  <a:schemeClr val="bg1"/>
                </a:solidFill>
                <a:effectLst/>
              </a:rPr>
              <a:t>. (n.d.). [Video recording]. Retrieved December 6, 2025, from </a:t>
            </a:r>
            <a:r>
              <a:rPr lang="en-US" sz="1400" dirty="0">
                <a:solidFill>
                  <a:schemeClr val="bg1"/>
                </a:solidFill>
                <a:effectLst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https://www.facebook.com/shelteranimalscount/posts/-february-is-adopt-a-rescued-rabbit-month-as-we-wrap-up-the-month-to-celebrate-h/645736767845114/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effectLst/>
              </a:rPr>
              <a:t>U, A. S. Y., Hou, C. Y., &amp;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Protopopova</a:t>
            </a:r>
            <a:r>
              <a:rPr lang="en-US" sz="1400" dirty="0">
                <a:solidFill>
                  <a:schemeClr val="bg1"/>
                </a:solidFill>
                <a:effectLst/>
              </a:rPr>
              <a:t>, A. (2024). Rabbit intakes and predictors of their length of stay in animal shelters in British Columbia, Canada.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PLOS ONE</a:t>
            </a:r>
            <a:r>
              <a:rPr lang="en-US" sz="1400" dirty="0">
                <a:solidFill>
                  <a:schemeClr val="bg1"/>
                </a:solidFill>
                <a:effectLst/>
              </a:rPr>
              <a:t>, </a:t>
            </a:r>
            <a:r>
              <a:rPr lang="en-US" sz="1400" i="1" dirty="0">
                <a:solidFill>
                  <a:schemeClr val="bg1"/>
                </a:solidFill>
                <a:effectLst/>
              </a:rPr>
              <a:t>19</a:t>
            </a:r>
            <a:r>
              <a:rPr lang="en-US" sz="1400" dirty="0">
                <a:solidFill>
                  <a:schemeClr val="bg1"/>
                </a:solidFill>
                <a:effectLst/>
              </a:rPr>
              <a:t>(4), e0300633. </a:t>
            </a:r>
            <a:r>
              <a:rPr lang="en-US" sz="1400" dirty="0">
                <a:solidFill>
                  <a:schemeClr val="bg1"/>
                </a:solidFill>
                <a:effectLst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https://doi.org/10.1371/journal.pone.0300633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effectLst/>
              </a:rPr>
              <a:t>Updated Rabbit Statistics: How Many Pet Rabbits are There in the USA?</a:t>
            </a:r>
            <a:r>
              <a:rPr lang="en-US" sz="1400" dirty="0">
                <a:solidFill>
                  <a:schemeClr val="bg1"/>
                </a:solidFill>
                <a:effectLst/>
              </a:rPr>
              <a:t> (2025, September 19). </a:t>
            </a:r>
            <a:r>
              <a:rPr lang="en-US" sz="1400" dirty="0">
                <a:solidFill>
                  <a:schemeClr val="bg1"/>
                </a:solidFill>
                <a:effectLst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https://rabbit.org/resources/how-many-pet-rabbits-are-there-in-the-usa/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effectLst/>
              </a:rPr>
              <a:t>U.S. pet ownership statistics | American Veterinary Medical Association</a:t>
            </a:r>
            <a:r>
              <a:rPr lang="en-US" sz="1400" dirty="0">
                <a:solidFill>
                  <a:schemeClr val="bg1"/>
                </a:solidFill>
                <a:effectLst/>
              </a:rPr>
              <a:t>. (n.d.). Retrieved December 6, 2025, from </a:t>
            </a:r>
            <a:r>
              <a:rPr lang="en-US" sz="1400" dirty="0">
                <a:solidFill>
                  <a:schemeClr val="bg1"/>
                </a:solidFill>
                <a:effectLst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https://www.avma.org/resources-tools/reports-statistics/us-pet-ownership-statistics</a:t>
            </a:r>
            <a:endParaRPr lang="en-US" sz="14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2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3622</TotalTime>
  <Words>1109</Words>
  <Application>Microsoft Macintosh PowerPoint</Application>
  <PresentationFormat>Widescreen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Raleway</vt:lpstr>
      <vt:lpstr>Office Theme</vt:lpstr>
      <vt:lpstr>How Long in the Shelter? Predictors of Rabbit Time to Adoption </vt:lpstr>
      <vt:lpstr>Questions  &amp; Objectives</vt:lpstr>
      <vt:lpstr>Introducing: Marley</vt:lpstr>
      <vt:lpstr>Background</vt:lpstr>
      <vt:lpstr>Data Description</vt:lpstr>
      <vt:lpstr>Rabbit Breeds</vt:lpstr>
      <vt:lpstr>Rabbit Coat Colors</vt:lpstr>
      <vt:lpstr>Length of Stay (LOS) at Shelters</vt:lpstr>
      <vt:lpstr>Leading Indicators of Length of Stay Multilinear Regression Analysis: U. et al. (2024)</vt:lpstr>
      <vt:lpstr>Random Forest Analysis</vt:lpstr>
      <vt:lpstr>First Train/Test: Data Leakage!</vt:lpstr>
      <vt:lpstr>Second Train/Test: Much Better</vt:lpstr>
      <vt:lpstr>SHAP Analysis</vt:lpstr>
      <vt:lpstr>SHAP Analysis</vt:lpstr>
      <vt:lpstr>Takeaways</vt:lpstr>
      <vt:lpstr>Marley’s Time in Shelter: Predicted with Random Forest Model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Anderson</dc:creator>
  <cp:lastModifiedBy>Rachel Anderson</cp:lastModifiedBy>
  <cp:revision>5</cp:revision>
  <dcterms:created xsi:type="dcterms:W3CDTF">2025-12-06T15:54:22Z</dcterms:created>
  <dcterms:modified xsi:type="dcterms:W3CDTF">2025-12-09T04:17:14Z</dcterms:modified>
</cp:coreProperties>
</file>